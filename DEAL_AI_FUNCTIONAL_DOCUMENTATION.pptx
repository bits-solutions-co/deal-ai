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Deal AI — Functional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Three-tier AI-driven real-estate marketing platform</a:t>
            </a:r>
          </a:p>
          <a:p>
            <a:r>
              <a:t>Frontend (Next.js) ▸ Backend (Express) ▸ AI Service (Flask)</a:t>
            </a:r>
          </a:p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What is Deal AI? — diagram</a:t>
            </a:r>
          </a:p>
        </p:txBody>
      </p:sp>
      <p:pic>
        <p:nvPicPr>
          <p:cNvPr id="3" name="Picture 2" descr="70bddefc712bc8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39887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What is Deal AI? — diagram</a:t>
            </a:r>
          </a:p>
        </p:txBody>
      </p:sp>
      <p:pic>
        <p:nvPicPr>
          <p:cNvPr id="3" name="Picture 2" descr="a7b775c8d81039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219734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What is Deal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❝ Comprehensive documentation of the Deal AI platform: every feature, every flow, every endpoint. Read once, build twice.</a:t>
            </a:r>
          </a:p>
          <a:p/>
          <a:p>
            <a:r>
              <a:rPr sz="1400"/>
              <a:t>Three repositories make up the system:</a:t>
            </a:r>
          </a:p>
          <a:p>
            <a:r>
              <a:rPr sz="1400"/>
              <a:t>- **`deal-ai`** —... ❞</a:t>
            </a:r>
          </a:p>
          <a:p>
            <a:r>
              <a:rPr sz="1400"/>
              <a:t>▸ In one paragraph</a:t>
            </a:r>
          </a:p>
          <a:p>
            <a:r>
              <a:rPr sz="1400"/>
              <a:t>Deal AI is an AI-powered marketing co-pilot for real-estate developers. Drop in a project brochure (PDF, photos, basic info) and the platform turns it into a complete, weeks-long social-media campa...</a:t>
            </a:r>
          </a:p>
          <a:p>
            <a:r>
              <a:rPr sz="1400"/>
              <a:t>▸ Core skills &amp; services (what the user gets)</a:t>
            </a:r>
          </a:p>
          <a:p>
            <a:r>
              <a:rPr sz="1400"/>
              <a:t>Table: Service / What it does for the user</a:t>
            </a:r>
          </a:p>
          <a:p>
            <a:r>
              <a:rPr sz="1400"/>
              <a:t>  • **AI brochure ingestion** | Upload a PDF brochure → AI reads every page, extracts project name, location, land area, every unit type with rooms / baths / spaces / finishing, and...</a:t>
            </a:r>
          </a:p>
          <a:p>
            <a:r>
              <a:rPr sz="1400"/>
              <a:t>  • **AI case study generation** | One click produces a complete marketing case study: who to target on each platform, recommended marketing strategy, performance metrics, ROI proje...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What is Deal AI?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**AI content campaigns** | Pick the platforms you want, the campaign goal (Branding / Engagement / Sales), the content length (Short / Medium / Long), and how many weeks. The pl...</a:t>
            </a:r>
          </a:p>
          <a:p>
            <a:r>
              <a:rPr sz="1400"/>
              <a:t>  • **AI image generation per post** | Every generated post gets a unique on-brand image rendered by DALL-E 3 from a prompt the system writes for it. Images are stored in your cloud...</a:t>
            </a:r>
          </a:p>
          <a:p>
            <a:r>
              <a:rPr sz="1400"/>
              <a:t>  • ... +7 more rows</a:t>
            </a:r>
          </a:p>
          <a:p>
            <a:r>
              <a:rPr sz="1400"/>
              <a:t>▸ How it works — a typical user journey</a:t>
            </a:r>
          </a:p>
          <a:p>
            <a:r>
              <a:rPr sz="1400"/>
              <a:t>▸ Under the hood (technical summary)</a:t>
            </a:r>
          </a:p>
          <a:p>
            <a:r>
              <a:rPr sz="1400"/>
              <a:t>The platform is split across three services, each with one job:</a:t>
            </a:r>
          </a:p>
          <a:p>
            <a:r>
              <a:rPr sz="1400"/>
              <a:t>• Frontend handles all UI, form validation, voice capture, image editing, and OAuth popups. Authenticates users with Lucia + Google OAuth.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What is Deal AI?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Backend is the orchestrator: receives every request, fans out to the AI service for LLM work, writes results to MongoDB via Prisma, uploads media to DigitalOcean Spaces, and pub...</a:t>
            </a:r>
          </a:p>
          <a:p>
            <a:r>
              <a:rPr sz="1400"/>
              <a:t>• AI service is a stateless prompt library: every endpoint is a wrapper around an OpenAI or Ideogram call with a carefully tuned system prompt. Keeping prompts in one place means ...</a:t>
            </a:r>
          </a:p>
          <a:p>
            <a:r>
              <a:rPr sz="1400"/>
              <a:t>▸ What's special about it (vs. generic AI writers like Buffer, Hootsuite, Jasper)</a:t>
            </a:r>
          </a:p>
          <a:p>
            <a:r>
              <a:rPr sz="1400"/>
              <a:t>• Real-estate verticalized: data model speaks "Project", "Apartment", "Villa", "ROI", "marketing strategy" — not generic "campaigns".</a:t>
            </a:r>
          </a:p>
          <a:p>
            <a:r>
              <a:rPr sz="1400"/>
              <a:t>• PDF brochure ingestion: nobody else turns a developer's brochure into a structured project in one drop.</a:t>
            </a:r>
          </a:p>
          <a:p>
            <a:r>
              <a:rPr sz="1400"/>
              <a:t>• Arabic-first: prompts, dictionaries, RTL layout, dialect-aware copy.</a:t>
            </a:r>
          </a:p>
          <a:p>
            <a:r>
              <a:rPr sz="1400"/>
              <a:t>• Voice control: hands-free project + content management is a novelty in the AI-marketing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What is Deal AI?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End-to-end: from raw brochure → published content, all in one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[What is Deal AI?](#0-what-is-deal-ai) *(plain-language overview)*</a:t>
            </a:r>
          </a:p>
          <a:p>
            <a:r>
              <a:rPr sz="1400"/>
              <a:t>• [Executive Summary](#1-executive-summary) *(technical)*</a:t>
            </a:r>
          </a:p>
          <a:p>
            <a:r>
              <a:rPr sz="1400"/>
              <a:t>• [System Architecture](#2-system-architecture)</a:t>
            </a:r>
          </a:p>
          <a:p>
            <a:r>
              <a:rPr sz="1400"/>
              <a:t>• [Tech Stack](#3-tech-stack)</a:t>
            </a:r>
          </a:p>
          <a:p>
            <a:r>
              <a:rPr sz="1400"/>
              <a:t>• [Data Model](#4-data-model)</a:t>
            </a:r>
          </a:p>
          <a:p>
            <a:r>
              <a:rPr sz="1400"/>
              <a:t>• [State Machines](#5-state-machines)</a:t>
            </a:r>
          </a:p>
          <a:p>
            <a:r>
              <a:rPr sz="1400"/>
              <a:t>• [Authentication](#6-authentication)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[Project Management](#7-project-management)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Deal AI is an AI-driven social-media marketing platform for real-estate developers. It generates marketing case studies, plans content campaigns, drafts posts, generates images, and publishes them ...</a:t>
            </a:r>
          </a:p>
          <a:p>
            <a:r>
              <a:rPr sz="1400"/>
              <a:t>▸ Headline capabilities</a:t>
            </a:r>
          </a:p>
          <a:p>
            <a:r>
              <a:rPr sz="1400"/>
              <a:t>• Authentication: Email/password with Argon2 + Google OAuth via Lucia (frontend Next.js Server Actions).</a:t>
            </a:r>
          </a:p>
          <a:p>
            <a:r>
              <a:rPr sz="1400"/>
              <a:t>• Project management: Real-estate projects, properties (apartments / villas), connected social platforms, soft-delete + restore.</a:t>
            </a:r>
          </a:p>
          <a:p>
            <a:r>
              <a:rPr sz="1400"/>
              <a:t>• PDF brochure → structured data: Upload a PDF; gpt-4o-mini vision extracts title/location/units/floor-plans into form fields.</a:t>
            </a:r>
          </a:p>
          <a:p>
            <a:r>
              <a:rPr sz="1400"/>
              <a:t>• AI case study: Four parallel calls to the Python AI service produce target-audience segmentation, marketing strategy, ROI projections, and project summary in one shot.</a:t>
            </a:r>
          </a:p>
          <a:p>
            <a:r>
              <a:rPr sz="1400"/>
              <a:t>• Multi-platform post campaigns: AI-generated ideas + post content per platform across N weeks; dall-e-3 image per post; auto-distributed to days of the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Image editor: Konva canvas with frame templates, RTL-aware text overlays, crop, export.</a:t>
            </a:r>
          </a:p>
          <a:p>
            <a:r>
              <a:rPr sz="1400"/>
              <a:t>• Voice assistant ("Siri"): GPT-4o function-calling for hands-free project / property / case-study / post management. Web Speech API.</a:t>
            </a:r>
          </a:p>
          <a:p>
            <a:r>
              <a:rPr sz="1400"/>
              <a:t>• Cron publisher: Every 30 s, publishes confirmed posts to LinkedIn (/v2/ugcPosts) and Twitter/X (/2/tweets) with token-refresh.</a:t>
            </a:r>
          </a:p>
          <a:p>
            <a:r>
              <a:rPr sz="1400"/>
              <a:t>▸ Design tenets</a:t>
            </a:r>
          </a:p>
          <a:p>
            <a:r>
              <a:rPr sz="1400"/>
              <a:t>• Three-tier separation: UI (Next.js) ↔ orchestration (Express) ↔ inference (Flask).</a:t>
            </a:r>
          </a:p>
          <a:p>
            <a:r>
              <a:rPr sz="1400"/>
              <a:t>• Python service is the single source of LLM/Image/Vision calls so prompts stay in one place.</a:t>
            </a:r>
          </a:p>
          <a:p>
            <a:r>
              <a:rPr sz="1400"/>
              <a:t>• Backend is Prisma-only DB writer; frontend never touches the DB directly.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Cron publisher in the Express backend is the single fan-out to social APIs.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 — diagram</a:t>
            </a:r>
          </a:p>
        </p:txBody>
      </p:sp>
      <p:pic>
        <p:nvPicPr>
          <p:cNvPr id="3" name="Picture 2" descr="3357cf1cec108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34062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High-level</a:t>
            </a:r>
          </a:p>
          <a:p>
            <a:r>
              <a:rPr sz="1400"/>
              <a:t>▸ Inter-service dependencies</a:t>
            </a:r>
          </a:p>
          <a:p>
            <a:r>
              <a:rPr sz="1400"/>
              <a:t>Table: From / To / Protocol / Purpose</a:t>
            </a:r>
          </a:p>
          <a:p>
            <a:r>
              <a:rPr sz="1400"/>
              <a:t>  • Browser | Next.js | HTTPS</a:t>
            </a:r>
          </a:p>
          <a:p>
            <a:r>
              <a:rPr sz="1400"/>
              <a:t>  • Browser | Express | HTTPS + base64 `user` header</a:t>
            </a:r>
          </a:p>
          <a:p>
            <a:r>
              <a:rPr sz="1400"/>
              <a:t>  • Browser | DigitalOcean Spaces | HTTPS (CDN)</a:t>
            </a:r>
          </a:p>
          <a:p>
            <a:r>
              <a:rPr sz="1400"/>
              <a:t>  • Browser | Express OAuth popup | HTTPS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... +7 more rows</a:t>
            </a:r>
          </a:p>
          <a:p>
            <a:r>
              <a:rPr sz="1400"/>
              <a:t>Service-port discovery (local dev):</a:t>
            </a:r>
          </a:p>
          <a:p>
            <a:r>
              <a:rPr sz="1400"/>
              <a:t>Table: Service / Port / Notes</a:t>
            </a:r>
          </a:p>
          <a:p>
            <a:r>
              <a:rPr sz="1400"/>
              <a:t>  • Next.js | 3000 | `yarn dev`</a:t>
            </a:r>
          </a:p>
          <a:p>
            <a:r>
              <a:rPr sz="1400"/>
              <a:t>  • Express | 5500 | `yarn dev` (nodemon)</a:t>
            </a:r>
          </a:p>
          <a:p>
            <a:r>
              <a:rPr sz="1400"/>
              <a:t>  • Flask Python | 5000 | `python app.py`</a:t>
            </a:r>
          </a:p>
          <a:p>
            <a:r>
              <a:rPr sz="1400"/>
              <a:t>  • Ollama (optional) | 11434 | Not used currently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Frontend (`deal-ai`)</a:t>
            </a:r>
          </a:p>
          <a:p>
            <a:r>
              <a:rPr sz="1400"/>
              <a:t>Table: Layer / Library</a:t>
            </a:r>
          </a:p>
          <a:p>
            <a:r>
              <a:rPr sz="1400"/>
              <a:t>  • Framework | Next.js 14.2.5 (App Router)</a:t>
            </a:r>
          </a:p>
          <a:p>
            <a:r>
              <a:rPr sz="1400"/>
              <a:t>  • Language | TypeScript 5</a:t>
            </a:r>
          </a:p>
          <a:p>
            <a:r>
              <a:rPr sz="1400"/>
              <a:t>  • Auth | Lucia 3.2 + Arctic 1.9 + @node-rs/argon2</a:t>
            </a:r>
          </a:p>
          <a:p>
            <a:r>
              <a:rPr sz="1400"/>
              <a:t>  • ORM | Prisma 5.17 (MongoDB)</a:t>
            </a:r>
          </a:p>
          <a:p>
            <a:r>
              <a:rPr sz="1400"/>
              <a:t>  • ... +10 more rows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 Stack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Backend (`deal-ai-server`)</a:t>
            </a:r>
          </a:p>
          <a:p>
            <a:r>
              <a:rPr sz="1400"/>
              <a:t>Table: Layer / Library</a:t>
            </a:r>
          </a:p>
          <a:p>
            <a:r>
              <a:rPr sz="1400"/>
              <a:t>  • Runtime | Node.js ≥ 16, ESM</a:t>
            </a:r>
          </a:p>
          <a:p>
            <a:r>
              <a:rPr sz="1400"/>
              <a:t>  • Framework | Express 4.18</a:t>
            </a:r>
          </a:p>
          <a:p>
            <a:r>
              <a:rPr sz="1400"/>
              <a:t>  • ORM | Prisma 5 (MongoDB, **same schema as frontend**)</a:t>
            </a:r>
          </a:p>
          <a:p>
            <a:r>
              <a:rPr sz="1400"/>
              <a:t>  • Cron | `node-cron` 3.0</a:t>
            </a:r>
          </a:p>
          <a:p>
            <a:r>
              <a:rPr sz="1400"/>
              <a:t>  • ... +5 more rows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 Stack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Python AI service (`TakamolAdvancedAI`)</a:t>
            </a:r>
          </a:p>
          <a:p>
            <a:r>
              <a:rPr sz="1400"/>
              <a:t>Table: Layer / Library</a:t>
            </a:r>
          </a:p>
          <a:p>
            <a:r>
              <a:rPr sz="1400"/>
              <a:t>  • Runtime | Python 3.12</a:t>
            </a:r>
          </a:p>
          <a:p>
            <a:r>
              <a:rPr sz="1400"/>
              <a:t>  • Framework | Flask 3 + flask-cors + flask-socketio</a:t>
            </a:r>
          </a:p>
          <a:p>
            <a:r>
              <a:rPr sz="1400"/>
              <a:t>  • LLM | `openai` 1.35 (gpt-4o-mini, gpt-4o, dall-e-3)</a:t>
            </a:r>
          </a:p>
          <a:p>
            <a:r>
              <a:rPr sz="1400"/>
              <a:t>  • Vision | OpenAI gpt-4o-mini (image_url content blocks)</a:t>
            </a:r>
          </a:p>
          <a:p>
            <a:r>
              <a:rPr sz="1400"/>
              <a:t>  • ... +4 more rows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Model — diagram</a:t>
            </a:r>
          </a:p>
        </p:txBody>
      </p:sp>
      <p:pic>
        <p:nvPicPr>
          <p:cNvPr id="3" name="Picture 2" descr="408d6fe338e6da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355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ER diagram</a:t>
            </a:r>
          </a:p>
          <a:p>
            <a:r>
              <a:rPr sz="1400"/>
              <a:t>▸ Enums</a:t>
            </a:r>
          </a:p>
          <a:p>
            <a:r>
              <a:rPr sz="1400"/>
              <a:t>Table: Enum / Values</a:t>
            </a:r>
          </a:p>
          <a:p>
            <a:r>
              <a:rPr sz="1400"/>
              <a:t>  • `PLATFORM` | `FACEBOOK`, `LINKEDIN`, `INSTAGRAM`, `TWITTER`</a:t>
            </a:r>
          </a:p>
          <a:p>
            <a:r>
              <a:rPr sz="1400"/>
              <a:t>  • `PROPERTY_TYPE` | `APARTMENT`, `VILLA`</a:t>
            </a:r>
          </a:p>
          <a:p>
            <a:r>
              <a:rPr sz="1400"/>
              <a:t>  • `POST_CAMPAIGN` | `BRANDING_AWARENESS`, `ENGAGEMENT`, `SALES_CONVERSION`</a:t>
            </a:r>
          </a:p>
          <a:p>
            <a:r>
              <a:rPr sz="1400"/>
              <a:t>  • `POST_CONTENT_LENGTH` | `SHORT`, `MEDIUM`, `LONG`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Model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... +1 more rows</a:t>
            </a:r>
          </a:p>
          <a:p>
            <a:r>
              <a:rPr sz="1400"/>
              <a:t>▸ Soft-delete</a:t>
            </a:r>
          </a:p>
          <a:p>
            <a:r>
              <a:rPr sz="1400"/>
              <a:t>• Project, Property, StudyCase, Image, Post carry deletedAt: DateTime?.</a:t>
            </a:r>
          </a:p>
          <a:p>
            <a:r>
              <a:rPr sz="1400"/>
              <a:t>• User, Session, Platform are hard-deleted only.</a:t>
            </a:r>
          </a:p>
          <a:p>
            <a:r>
              <a:rPr sz="1400"/>
              <a:t>▸ Schema source</a:t>
            </a:r>
          </a:p>
          <a:p>
            <a:r>
              <a:rPr sz="1400"/>
              <a:t>Both deal-ai/prisma/schema.prisma and deal-ai-server/prisma/schema.prisma are byte-identical. Drift is a future hazard.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State Machines — diagram</a:t>
            </a:r>
          </a:p>
        </p:txBody>
      </p:sp>
      <p:pic>
        <p:nvPicPr>
          <p:cNvPr id="3" name="Picture 2" descr="2da5811426c34c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49951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State Machines — diagram</a:t>
            </a:r>
          </a:p>
        </p:txBody>
      </p:sp>
      <p:pic>
        <p:nvPicPr>
          <p:cNvPr id="3" name="Picture 2" descr="4aea3e6eb72cbf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66173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State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Post lifecycle</a:t>
            </a:r>
          </a:p>
          <a:p>
            <a:r>
              <a:rPr sz="1400"/>
              <a:t>▸ OAuth state lifecycle (LinkedIn / Twitter)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Authentication — diagram</a:t>
            </a:r>
          </a:p>
        </p:txBody>
      </p:sp>
      <p:pic>
        <p:nvPicPr>
          <p:cNvPr id="3" name="Picture 2" descr="9bcffebec32355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4231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Authentication — diagram</a:t>
            </a:r>
          </a:p>
        </p:txBody>
      </p:sp>
      <p:pic>
        <p:nvPicPr>
          <p:cNvPr id="3" name="Picture 2" descr="059f8a9c19454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24365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6.1 Email/password sign-up</a:t>
            </a:r>
          </a:p>
          <a:p>
            <a:r>
              <a:rPr sz="1400"/>
              <a:t>Code refs:</a:t>
            </a:r>
          </a:p>
          <a:p>
            <a:r>
              <a:rPr sz="1400"/>
              <a:t>• deal-ai/src/actions/users.ts:21-65</a:t>
            </a:r>
          </a:p>
          <a:p>
            <a:r>
              <a:rPr sz="1400"/>
              <a:t>• deal-ai/src/actions/helpers.ts:39-46 — hash()</a:t>
            </a:r>
          </a:p>
          <a:p>
            <a:r>
              <a:rPr sz="1400"/>
              <a:t>• deal-ai/src/validations/users.ts:24-28 — schema</a:t>
            </a:r>
          </a:p>
          <a:p>
            <a:r>
              <a:rPr sz="1400"/>
              <a:t>▸ 6.2 Google OAuth sign-in</a:t>
            </a:r>
          </a:p>
          <a:p>
            <a:r>
              <a:rPr sz="1400"/>
              <a:t>Code refs: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Authentication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deal-ai/src/actions/users.ts:107-148</a:t>
            </a:r>
          </a:p>
          <a:p>
            <a:r>
              <a:rPr sz="1400"/>
              <a:t>• deal-ai/src/app/api/auth/callback/google/route.ts:1-100</a:t>
            </a:r>
          </a:p>
          <a:p>
            <a:r>
              <a:rPr sz="1400"/>
              <a:t>▸ 6.3 Logout &amp; profile updates</a:t>
            </a:r>
          </a:p>
          <a:p>
            <a:r>
              <a:rPr sz="1400"/>
              <a:t>Table: Action / File / Effect</a:t>
            </a:r>
          </a:p>
          <a:p>
            <a:r>
              <a:rPr sz="1400"/>
              <a:t>  • Logout | `actions/users.ts:150-168` | `lucia.invalidateSession()`, clear cookie, redirect to login</a:t>
            </a:r>
          </a:p>
          <a:p>
            <a:r>
              <a:rPr sz="1400"/>
              <a:t>  • Update name/email | `actions/users.ts:170-209` | Auth-checked DB update; revalidate layout cache</a:t>
            </a:r>
          </a:p>
          <a:p>
            <a:r>
              <a:rPr sz="1400"/>
              <a:t>  • Update password | `actions/users.ts:211-256` | Argon2 re-hash; new session created (forces re-login on other tabs)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Project Management — diagram</a:t>
            </a:r>
          </a:p>
        </p:txBody>
      </p:sp>
      <p:pic>
        <p:nvPicPr>
          <p:cNvPr id="3" name="Picture 2" descr="9d826a842fb63d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96874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Project Management — diagram</a:t>
            </a:r>
          </a:p>
        </p:txBody>
      </p:sp>
      <p:pic>
        <p:nvPicPr>
          <p:cNvPr id="3" name="Picture 2" descr="20a145d74529f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945160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Server-side project creation</a:t>
            </a:r>
          </a:p>
          <a:p>
            <a:r>
              <a:rPr sz="1400"/>
              <a:t>Refs: deal-ai-server/src/routes/projects.js:52-145, deal-ai/src/components/project-form.tsx.</a:t>
            </a:r>
          </a:p>
          <a:p>
            <a:r>
              <a:rPr sz="1400"/>
              <a:t>▸ Edit / soft-delete / restore</a:t>
            </a:r>
          </a:p>
          <a:p>
            <a:r>
              <a:rPr sz="1400"/>
              <a:t>• Edit: PATCH /api/projects/:id with body fields.</a:t>
            </a:r>
          </a:p>
          <a:p>
            <a:r>
              <a:rPr sz="1400"/>
              <a:t>• Soft-delete: PATCH deletedAt = now. Item moves to /dashboard/bin.</a:t>
            </a:r>
          </a:p>
          <a:p>
            <a:r>
              <a:rPr sz="1400"/>
              <a:t>• Restore: PATCH deletedAt = null. Listed in /dashboard/projects again.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PDF Brochure Auto-fill — diagram</a:t>
            </a:r>
          </a:p>
        </p:txBody>
      </p:sp>
      <p:pic>
        <p:nvPicPr>
          <p:cNvPr id="3" name="Picture 2" descr="e301201a7bd98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53930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PDF Brochure Auto-fill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This is the killer onboarding feature: drag a PDF, get the form filled in.</a:t>
            </a:r>
          </a:p>
          <a:p>
            <a:r>
              <a:rPr sz="1400"/>
              <a:t>Refs: deal-ai/src/components/project-form.tsx:140-278; TakamolAdvancedAI/app.py:113-171.</a:t>
            </a:r>
          </a:p>
          <a:p>
            <a:r>
              <a:rPr sz="1400"/>
              <a:t>System prompt is reproduced in Appendix 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Case Study Generation — diagram</a:t>
            </a:r>
          </a:p>
        </p:txBody>
      </p:sp>
      <p:pic>
        <p:nvPicPr>
          <p:cNvPr id="3" name="Picture 2" descr="53053829e2b377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3972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Case Study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The most prompt-heavy flow. One client request fans out to four parallel AI calls.</a:t>
            </a:r>
          </a:p>
          <a:p>
            <a:r>
              <a:rPr sz="1400"/>
              <a:t>▸ Asset normalization (the comma + units fix)</a:t>
            </a:r>
          </a:p>
          <a:p>
            <a:r>
              <a:rPr sz="1400"/>
              <a:t>study-cases.js runs every property through:</a:t>
            </a:r>
          </a:p>
          <a:p>
            <a:r>
              <a:rPr sz="1400"/>
              <a:t>Reason: /ar/roi does float(price) * int(units); commas in "2,000,000" blow up float(), and units: "0" silently produces zero ROI. The frontend sometimes stores numeric fields as comma-formatted str...</a:t>
            </a:r>
          </a:p>
          <a:p>
            <a:r>
              <a:rPr sz="1400"/>
              <a:t>Refs: deal-ai-server/src/routes/study-cases.js:43-185; TakamolAdvancedAI/app.py:1486-1634.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onsolas"/>
              </a:rPr>
              <a:t>const stripCommas = v =&gt; typeof v === "string" ? v.replace(/,/g, "") : v;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const atLeastOne = v =&gt; {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const cleaned = stripCommas(v);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const n = parseFloat(cleaned);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return !isFinite(n) || n &lt; 1 ? "1" : cleaned;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Post Generation Pipeline — diagram</a:t>
            </a:r>
          </a:p>
        </p:txBody>
      </p:sp>
      <p:pic>
        <p:nvPicPr>
          <p:cNvPr id="3" name="Picture 2" descr="57b4b1c2e7c7c8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333844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Post Generation Pipeline — diagram</a:t>
            </a:r>
          </a:p>
        </p:txBody>
      </p:sp>
      <p:pic>
        <p:nvPicPr>
          <p:cNvPr id="3" name="Picture 2" descr="d23a3a4c2f334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159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Post Generation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The biggest pipeline in the system. Two-stage: generate ideas, then generate posts (one per idea).</a:t>
            </a:r>
          </a:p>
          <a:p>
            <a:r>
              <a:rPr sz="1400"/>
              <a:t>▸ Stage 1: ideas</a:t>
            </a:r>
          </a:p>
          <a:p>
            <a:r>
              <a:rPr sz="1400"/>
              <a:t>▸ Stage 2: posts (per idea)</a:t>
            </a:r>
          </a:p>
          <a:p>
            <a:r>
              <a:rPr sz="1400"/>
              <a:t>▸ Day-of-week distribution (frontend logic)</a:t>
            </a:r>
          </a:p>
          <a:p>
            <a:r>
              <a:rPr sz="1400"/>
              <a:t>So a 5-week BRANDING_AWARENESS campaign with 4 platforms = 5 × 5 × 4 = 100 posts. Each calls /api/posts separately.</a:t>
            </a:r>
          </a:p>
          <a:p>
            <a:r>
              <a:rPr sz="1400"/>
              <a:t>Refs:</a:t>
            </a:r>
          </a:p>
          <a:p>
            <a:r>
              <a:rPr sz="1400"/>
              <a:t>• deal-ai/src/components/post-create-button.tsx:74-186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onsolas"/>
              </a:rPr>
              <a:t>// post-create-button.tsx:104-150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const noOfPostsPerWeek =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data.campaignType === "BRANDING_AWARENESS" || data.campaignType === "ENGAGEMENT"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? 5 : 3;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const daysToPost = noOfPostsPerWeek === 3 ? [0, 2, 4] : [0, 1, 2, 3, 4];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// Each idea gets postAt incremented day by day, skipping non-daysToPost,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// random hour 11-20 local.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Post Generation Pipeline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deal-ai-server/src/routes/posts.js:71-400</a:t>
            </a:r>
          </a:p>
          <a:p>
            <a:r>
              <a:rPr sz="1400"/>
              <a:t>• deal-ai-server/src/routes/ideas.js:71-205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Image Generation — diagram</a:t>
            </a:r>
          </a:p>
        </p:txBody>
      </p:sp>
      <p:pic>
        <p:nvPicPr>
          <p:cNvPr id="3" name="Picture 2" descr="d9ed50970f2738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25959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Image Generation — diagram</a:t>
            </a:r>
          </a:p>
        </p:txBody>
      </p:sp>
      <p:pic>
        <p:nvPicPr>
          <p:cNvPr id="3" name="Picture 2" descr="7280dac06182c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92427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Image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The image-gen path went through three iterations:</a:t>
            </a:r>
          </a:p>
          <a:p>
            <a:r>
              <a:rPr sz="1400"/>
              <a:t>• Original: Python /image-model-2 → Ideogram (out of credit).</a:t>
            </a:r>
          </a:p>
          <a:p>
            <a:r>
              <a:rPr sz="1400"/>
              <a:t>• Local fallback: Skip image, post text-only.</a:t>
            </a:r>
          </a:p>
          <a:p>
            <a:r>
              <a:rPr sz="1400"/>
              <a:t>• Current (this codebase): Express calls OpenAI dall-e-3 directly with retry-on-429.</a:t>
            </a:r>
          </a:p>
          <a:p>
            <a:r>
              <a:rPr sz="1400"/>
              <a:t>▸ Current flow</a:t>
            </a:r>
          </a:p>
          <a:p>
            <a:r>
              <a:rPr sz="1400"/>
              <a:t>After generateImg returns a URL:</a:t>
            </a:r>
          </a:p>
          <a:p>
            <a:r>
              <a:rPr sz="1400"/>
              <a:t>▸ Why dall-e-3 directly (not Python)?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Image Generation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The Python service's /image-model-2 proxies to Ideogram, which ran out of API credits. Going direct from Express to OpenAI:</a:t>
            </a:r>
          </a:p>
          <a:p>
            <a:r>
              <a:rPr sz="1400"/>
              <a:t>• Avoids the dead Python path.</a:t>
            </a:r>
          </a:p>
          <a:p>
            <a:r>
              <a:rPr sz="1400"/>
              <a:t>• Lets us own the retry-on-429 logic in JS.</a:t>
            </a:r>
          </a:p>
          <a:p>
            <a:r>
              <a:rPr sz="1400"/>
              <a:t>• Keeps the Sharp + S3 upload colocated with the Post insert.</a:t>
            </a:r>
          </a:p>
          <a:p>
            <a:r>
              <a:rPr sz="1400"/>
              <a:t>Refs: deal-ai-server/src/routes/posts.js:56-108 (and identical copy in ideas.js).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Social-Media OAuth &amp; Posting — diagram</a:t>
            </a:r>
          </a:p>
        </p:txBody>
      </p:sp>
      <p:pic>
        <p:nvPicPr>
          <p:cNvPr id="3" name="Picture 2" descr="33c4de7367802e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039141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Social-Media OAuth &amp; Posting — diagram</a:t>
            </a:r>
          </a:p>
        </p:txBody>
      </p:sp>
      <p:pic>
        <p:nvPicPr>
          <p:cNvPr id="3" name="Picture 2" descr="5a6e1d1c3a20b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60678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Social-Media OAuth &amp; Posting — diagram</a:t>
            </a:r>
          </a:p>
        </p:txBody>
      </p:sp>
      <p:pic>
        <p:nvPicPr>
          <p:cNvPr id="3" name="Picture 2" descr="5200561b62423f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063586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Social-Media OAuth &amp; Posting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LinkedIn — popup OAuth</a:t>
            </a:r>
          </a:p>
          <a:p>
            <a:r>
              <a:rPr sz="1400"/>
              <a:t>▸ Twitter — OAuth 2.0 + PKCE</a:t>
            </a:r>
          </a:p>
          <a:p>
            <a:r>
              <a:rPr sz="1400"/>
              <a:t>▸ Posting (LinkedIn)</a:t>
            </a:r>
          </a:p>
          <a:p>
            <a:r>
              <a:rPr sz="1400"/>
              <a:t>publishToLinkedIn({ text, accessToken, urn }) in deal-ai-server/src/lib/social.js:</a:t>
            </a:r>
          </a:p>
          <a:p>
            <a:r>
              <a:rPr sz="1400"/>
              <a:t>▸ Posting (Twitter)</a:t>
            </a:r>
          </a:p>
          <a:p>
            <a:r>
              <a:rPr sz="1400"/>
              <a:t>publishToTwitter({ text, accessToken }):</a:t>
            </a:r>
          </a:p>
          <a:p>
            <a:r>
              <a:rPr sz="1400"/>
              <a:t>▸ Token refresh (Twitter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onsolas"/>
              </a:rPr>
              <a:t>POST https://api.linkedin.com/v2/ugcPosts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Authorization: Bearer ${accessToken}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X-Restli-Protocol-Version: 2.0.0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Content-Type: application/json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"author": "&lt;urn&gt;",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"lifecycleState": "PUBLISHED",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"specificContent": {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"com.linkedin.ugc.ShareContent": {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  "shareCommentary": { "text": "&lt;post text&gt;" },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  "shareMediaCategory": "NONE"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}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},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"visibility": {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"com.linkedin.ugc.MemberNetworkVisibility": "PUBLIC"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}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Social-Media OAuth &amp; Posting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When the cron publisher gets a 401 from /2/tweets, it auto-refreshes:</a:t>
            </a:r>
          </a:p>
          <a:p>
            <a:r>
              <a:rPr sz="1400"/>
              <a:t>Refs: scheduler.js:150-205.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Cron Scheduler — diagram</a:t>
            </a:r>
          </a:p>
        </p:txBody>
      </p:sp>
      <p:pic>
        <p:nvPicPr>
          <p:cNvPr id="3" name="Picture 2" descr="55b42633db9962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26060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Cron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Refs: deal-ai-server/src/lib/scheduler.js:1-210; deal-ai-server/src/index.js:45.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Voice Assistant ("Siri") — diagram</a:t>
            </a:r>
          </a:p>
        </p:txBody>
      </p:sp>
      <p:pic>
        <p:nvPicPr>
          <p:cNvPr id="3" name="Picture 2" descr="5f9688ff0bd235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6203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Voice Assistant ("Siri")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Tools defined in `src/lib/siri.ts`</a:t>
            </a:r>
          </a:p>
          <a:p>
            <a:r>
              <a:rPr sz="1400"/>
              <a:t>Table: Tool / Effect</a:t>
            </a:r>
          </a:p>
          <a:p>
            <a:r>
              <a:rPr sz="1400"/>
              <a:t>  • `createProject` | POST `/api/projects` with structured fields</a:t>
            </a:r>
          </a:p>
          <a:p>
            <a:r>
              <a:rPr sz="1400"/>
              <a:t>  • `deleteProject` | List user projects, find by title, DELETE</a:t>
            </a:r>
          </a:p>
          <a:p>
            <a:r>
              <a:rPr sz="1400"/>
              <a:t>  • `addPropertyTypes` | POST `/api/properties` (bulk)</a:t>
            </a:r>
          </a:p>
          <a:p>
            <a:r>
              <a:rPr sz="1400"/>
              <a:t>  • `deleteProperty` | Find + DELETE property</a:t>
            </a:r>
          </a:p>
          <a:p>
            <a:r>
              <a:rPr sz="1400"/>
              <a:t>  • ... +4 more rows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Voice Assistant ("Siri")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Each tool exposes a JSON-schema for its arguments and a trigger(data) async fn that performs the side effect.</a:t>
            </a:r>
          </a:p>
          <a:p>
            <a:r>
              <a:rPr sz="1400"/>
              <a:t>Wake-word: "hello" (line 110-121 in siri.tsx) — listened for in continuous mode; once heard, subsequent transcripts populate the message.</a:t>
            </a:r>
          </a:p>
          <a:p>
            <a:r>
              <a:rPr sz="1400"/>
              <a:t>Refs: deal-ai/src/lib/siri.ts, deal-ai/src/components/siri.tsx, deal-ai/src/lib/openai.ts.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Image Editor (Konva) — diagram</a:t>
            </a:r>
          </a:p>
        </p:txBody>
      </p:sp>
      <p:pic>
        <p:nvPicPr>
          <p:cNvPr id="3" name="Picture 2" descr="df41c99f44902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65580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Image Editor (Konva)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Entry: /[lang]/editors/images/:img-id opens ImageEditor which instantiates a PhotoEditor Konva wrapper.</a:t>
            </a:r>
          </a:p>
          <a:p>
            <a:r>
              <a:rPr sz="1400"/>
              <a:t>PhotoEditor public methods (src/lib/konva.ts):</a:t>
            </a:r>
          </a:p>
          <a:p>
            <a:r>
              <a:rPr sz="1400"/>
              <a:t>Table: Method / Purpose</a:t>
            </a:r>
          </a:p>
          <a:p>
            <a:r>
              <a:rPr sz="1400"/>
              <a:t>  • `addPhoto(src)` | Load image from URL; scale-fit into crop area</a:t>
            </a:r>
          </a:p>
          <a:p>
            <a:r>
              <a:rPr sz="1400"/>
              <a:t>  • `addBase64(b64)` | Same with base64 string</a:t>
            </a:r>
          </a:p>
          <a:p>
            <a:r>
              <a:rPr sz="1400"/>
              <a:t>  • `addFrame(frameId)` | Load from `public/frames/frame-XX.png` (regular and filled variants)</a:t>
            </a:r>
          </a:p>
          <a:p>
            <a:r>
              <a:rPr sz="1400"/>
              <a:t>  • `addText(opts)` | Add RTL/LTR text node with `lang` parameter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Image Editor (Konva)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... +3 more rows</a:t>
            </a:r>
          </a:p>
          <a:p>
            <a:r>
              <a:rPr sz="1400"/>
              <a:t>Frame templates: public/frames/frame-01.png … frame-05.png (and filled/ variants). Each has its own applyFrame* constant in src/lib/constants.ts that places the title, CTA, phone, and URL at frame-...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Localization — diagram</a:t>
            </a:r>
          </a:p>
        </p:txBody>
      </p:sp>
      <p:pic>
        <p:nvPicPr>
          <p:cNvPr id="3" name="Picture 2" descr="ad220f3c21ef10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293271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Localization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Files</a:t>
            </a:r>
          </a:p>
          <a:p>
            <a:r>
              <a:rPr sz="1400"/>
              <a:t>• src/middleware.ts — locale routing</a:t>
            </a:r>
          </a:p>
          <a:p>
            <a:r>
              <a:rPr sz="1400"/>
              <a:t>• src/lib/locale.ts — i18n config, getDictionary(), t(value, { from, to })</a:t>
            </a:r>
          </a:p>
          <a:p>
            <a:r>
              <a:rPr sz="1400"/>
              <a:t>• src/dictionaries/en.ts, src/dictionaries/ar.ts — full UI strings (≈47 KB + 39 KB)</a:t>
            </a:r>
          </a:p>
          <a:p>
            <a:r>
              <a:rPr sz="1400"/>
              <a:t>• src/app/[lang]/layout.tsx:62 — &lt;html dir={lang === "ar" ? "rtl" : "ltr"}&gt;</a:t>
            </a:r>
          </a:p>
          <a:p>
            <a:r>
              <a:rPr sz="1400"/>
              <a:t>▸ Dynamic translation</a:t>
            </a:r>
          </a:p>
          <a:p>
            <a:r>
              <a:rPr sz="1400"/>
              <a:t>Anything outside the static dictionaries is run through the translate npm package (Google Translate under the hood) at request time via t(text, { from: "en", to: locale }). Used for backend error m...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Localization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Backend i18n</a:t>
            </a:r>
          </a:p>
          <a:p>
            <a:r>
              <a:rPr sz="1400"/>
              <a:t>Express has its own src/lib/locale.js mirror that reads the locale request header and provides c?.["error key"] lookups for translated error messages. Same dictionary files duplicated server-side.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Storage — diagram</a:t>
            </a:r>
          </a:p>
        </p:txBody>
      </p:sp>
      <p:pic>
        <p:nvPicPr>
          <p:cNvPr id="3" name="Picture 2" descr="3620118b97ac6c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2704889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DigitalOcean Spaces</a:t>
            </a:r>
          </a:p>
          <a:p>
            <a:r>
              <a:rPr sz="1400"/>
              <a:t>▸ Upload prefixes</a:t>
            </a:r>
          </a:p>
          <a:p>
            <a:r>
              <a:rPr sz="1400"/>
              <a:t>Table: `name` arg / Final key / Used by</a:t>
            </a:r>
          </a:p>
          <a:p>
            <a:r>
              <a:rPr sz="1400"/>
              <a:t>  • `"projects"` | `imgs/projects_&lt;timestamp&gt;` | Project logos</a:t>
            </a:r>
          </a:p>
          <a:p>
            <a:r>
              <a:rPr sz="1400"/>
              <a:t>  • `"cases"` | `imgs/cases_&lt;timestamp&gt;` | Study-case ref images, PDF page images</a:t>
            </a:r>
          </a:p>
          <a:p>
            <a:r>
              <a:rPr sz="1400"/>
              <a:t>  • `"posts"` | `imgs/posts_&lt;timestamp&gt;` | Post images (DALL-E generated)</a:t>
            </a:r>
          </a:p>
          <a:p>
            <a:r>
              <a:rPr sz="1400"/>
              <a:t>ACL is always public-read; Content-Type defaults to image/png. The S3 client uses s3ForcePathStyle: true (DO Spaces requirement).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Storage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Allowed Next.js remote image hosts</a:t>
            </a:r>
          </a:p>
          <a:p>
            <a:r>
              <a:rPr sz="1400"/>
              <a:t>next.config.mjs:12-52:</a:t>
            </a:r>
          </a:p>
          <a:p>
            <a:r>
              <a:rPr sz="1400"/>
              <a:t>• cognerax-learn.sfo3.digitaloceanspaces.com</a:t>
            </a:r>
          </a:p>
          <a:p>
            <a:r>
              <a:rPr sz="1400"/>
              <a:t>• sfo3.digitaloceanspaces.com</a:t>
            </a:r>
          </a:p>
          <a:p>
            <a:r>
              <a:rPr sz="1400"/>
              <a:t>• cognerax-learn.sfo3.cdn.digitaloceanspaces.com</a:t>
            </a:r>
          </a:p>
          <a:p>
            <a:r>
              <a:rPr sz="1400"/>
              <a:t>• takamolspace.lon1.digitaloceanspaces.com (legacy)</a:t>
            </a:r>
          </a:p>
          <a:p>
            <a:r>
              <a:rPr sz="1400"/>
              <a:t>• lon1.digitaloceanspaces.com (legacy)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Storage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• oaidalleapiprodscus.blob.core.windows.net (DALL-E temp URLs)</a:t>
            </a:r>
          </a:p>
          <a:p>
            <a:r>
              <a:rPr sz="1400"/>
              <a:t>• ideogram.ai (legacy)</a:t>
            </a:r>
          </a:p>
          <a:p>
            <a:r>
              <a:rPr sz="1400"/>
              <a:t>• images.unsplash.com, plus.unsplash.com, source.boringavatars.com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Frontend 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Pages (App Router)</a:t>
            </a:r>
          </a:p>
          <a:p>
            <a:r>
              <a:rPr sz="1400"/>
              <a:t>Table: Path / Purpose / Auth</a:t>
            </a:r>
          </a:p>
          <a:p>
            <a:r>
              <a:rPr sz="1400"/>
              <a:t>  • `/` | Landing → redirect to login if unauth</a:t>
            </a:r>
          </a:p>
          <a:p>
            <a:r>
              <a:rPr sz="1400"/>
              <a:t>  • `/[lang]/login` | Email/password + Google OAuth | Public</a:t>
            </a:r>
          </a:p>
          <a:p>
            <a:r>
              <a:rPr sz="1400"/>
              <a:t>  • `/[lang]/register` | Email/password sign-up | Public</a:t>
            </a:r>
          </a:p>
          <a:p>
            <a:r>
              <a:rPr sz="1400"/>
              <a:t>  • `/[lang]/dashboard` | Overview | Required</a:t>
            </a:r>
          </a:p>
          <a:p>
            <a:r>
              <a:rPr sz="1400"/>
              <a:t>  • ... +12 more rows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Frontend API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Server Actions (`src/actions/users.ts`)</a:t>
            </a:r>
          </a:p>
          <a:p>
            <a:r>
              <a:rPr sz="1400"/>
              <a:t>Table: Action / Purpose</a:t>
            </a:r>
          </a:p>
          <a:p>
            <a:r>
              <a:rPr sz="1400"/>
              <a:t>  • `signUpWithPassword({ name, email, password })` | Create user, hash, session</a:t>
            </a:r>
          </a:p>
          <a:p>
            <a:r>
              <a:rPr sz="1400"/>
              <a:t>  • `signInWithPassword({ email, password })` | Verify, session</a:t>
            </a:r>
          </a:p>
          <a:p>
            <a:r>
              <a:rPr sz="1400"/>
              <a:t>  • `signInWithGoogle()` | Generate state/codeVerifier, set cookies, redirect to Google</a:t>
            </a:r>
          </a:p>
          <a:p>
            <a:r>
              <a:rPr sz="1400"/>
              <a:t>  • `logout()` | Invalidate session, clear cookie, redirect</a:t>
            </a:r>
          </a:p>
          <a:p>
            <a:r>
              <a:rPr sz="1400"/>
              <a:t>  • ... +2 more rows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Frontend API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Frontend env vars (consumed in `src/`)</a:t>
            </a:r>
          </a:p>
          <a:p>
            <a:r>
              <a:rPr sz="1400"/>
              <a:t>Table: Variable / Used by / Purpose</a:t>
            </a:r>
          </a:p>
          <a:p>
            <a:r>
              <a:rPr sz="1400"/>
              <a:t>  • `NEXT_PUBLIC_BASE_URL` | `lib/auth.ts:40` | Google OAuth redirect URI base</a:t>
            </a:r>
          </a:p>
          <a:p>
            <a:r>
              <a:rPr sz="1400"/>
              <a:t>  • `NEXT_PUBLIC_SERVER_BASE_URL` | `lib/axios.ts:7`, `scheduler.tsx`, `project-form.tsx` | Express backend base URL</a:t>
            </a:r>
          </a:p>
          <a:p>
            <a:r>
              <a:rPr sz="1400"/>
              <a:t>  • `NEXT_PUBLIC_AI_API` | `project-form.tsx:207` | Python AI service base (PDF extractor only on FE)</a:t>
            </a:r>
          </a:p>
          <a:p>
            <a:r>
              <a:rPr sz="1400"/>
              <a:t>  • `NEXT_PUBLIC_OPENAI_API_KEY` | `lib/openai.ts:14` | Voice assistant LLM</a:t>
            </a:r>
          </a:p>
          <a:p>
            <a:r>
              <a:rPr sz="1400"/>
              <a:t>  • ... +5 more rows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Backend 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Server config (`src/index.js`)</a:t>
            </a:r>
          </a:p>
          <a:p>
            <a:r>
              <a:rPr sz="1400"/>
              <a:t>Table: Setting / Value</a:t>
            </a:r>
          </a:p>
          <a:p>
            <a:r>
              <a:rPr sz="1400"/>
              <a:t>  • Port | `process.env.PORT ?? 8080` (production .env sets 5500)</a:t>
            </a:r>
          </a:p>
          <a:p>
            <a:r>
              <a:rPr sz="1400"/>
              <a:t>  • Body limit | 100 MB JSON / 100 MB urlencoded</a:t>
            </a:r>
          </a:p>
          <a:p>
            <a:r>
              <a:rPr sz="1400"/>
              <a:t>  • CORS origins | `http://localhost:3000`, `https://urchin-app-6wl4t.ondigitalocean.app`</a:t>
            </a:r>
          </a:p>
          <a:p>
            <a:r>
              <a:rPr sz="1400"/>
              <a:t>  • CORS headers | `Content-Type`, `locale`, `user`</a:t>
            </a:r>
          </a:p>
          <a:p>
            <a:r>
              <a:rPr sz="1400"/>
              <a:t>  • ... +2 more rows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Backend API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Endpoints</a:t>
            </a:r>
          </a:p>
          <a:p>
            <a:r>
              <a:rPr sz="1400"/>
              <a:t>Table: Method / Path / Purpose / Auth</a:t>
            </a:r>
          </a:p>
          <a:p>
            <a:r>
              <a:rPr sz="1400"/>
              <a:t>  • GET | `/` | Health</a:t>
            </a:r>
          </a:p>
          <a:p>
            <a:r>
              <a:rPr sz="1400"/>
              <a:t>  • GET | `/api/projects` | List projects</a:t>
            </a:r>
          </a:p>
          <a:p>
            <a:r>
              <a:rPr sz="1400"/>
              <a:t>  • POST | `/api/projects` | Create project + properties + platforms</a:t>
            </a:r>
          </a:p>
          <a:p>
            <a:r>
              <a:rPr sz="1400"/>
              <a:t>  • PATCH | `/api/projects/:id` | Update project</a:t>
            </a:r>
          </a:p>
          <a:p>
            <a:r>
              <a:rPr sz="1400"/>
              <a:t>  • ... +27 more rows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Backend API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Backend env vars</a:t>
            </a:r>
          </a:p>
          <a:p>
            <a:r>
              <a:rPr sz="1400"/>
              <a:t>Table: Variable / Required / Purpose</a:t>
            </a:r>
          </a:p>
          <a:p>
            <a:r>
              <a:rPr sz="1400"/>
              <a:t>  • `PORT` | no | Server port (default 8080; set to 5500)</a:t>
            </a:r>
          </a:p>
          <a:p>
            <a:r>
              <a:rPr sz="1400"/>
              <a:t>  • `NODE_ENV` | no | Stack-trace toggling</a:t>
            </a:r>
          </a:p>
          <a:p>
            <a:r>
              <a:rPr sz="1400"/>
              <a:t>  • `DATABASE_URL` | yes | MongoDB connection string</a:t>
            </a:r>
          </a:p>
          <a:p>
            <a:r>
              <a:rPr sz="1400"/>
              <a:t>  • `NEXT_PUBLIC_AI_API` | yes | Python AI service base URL</a:t>
            </a:r>
          </a:p>
          <a:p>
            <a:r>
              <a:rPr sz="1400"/>
              <a:t>  • ... +5 more rows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Python AI Service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Bootstrap: app.py:53-78. Local-dev: python app.py → 127.0.0.1:5000. Prod: gunicorn -w 4 -b :$PORT app:app.</a:t>
            </a:r>
          </a:p>
          <a:p>
            <a:r>
              <a:rPr sz="1400"/>
              <a:t>▸ Endpoint catalog</a:t>
            </a:r>
          </a:p>
          <a:p>
            <a:r>
              <a:rPr sz="1400"/>
              <a:t>Table: Method / Path / Purpose / Helper / model</a:t>
            </a:r>
          </a:p>
          <a:p>
            <a:r>
              <a:rPr sz="1400"/>
              <a:t>  • `POST /ar/pdf-data-extractor` | Vision-extract project metadata from PDF page images | `pdf_extractor` / **gpt-4o-mini** vision</a:t>
            </a:r>
          </a:p>
          <a:p>
            <a:r>
              <a:rPr sz="1400"/>
              <a:t>  • `POST /shortcontent` | Short / Medium / Long copy variants | `short_content_generator` / gpt-4o-mini</a:t>
            </a:r>
          </a:p>
          <a:p>
            <a:r>
              <a:rPr sz="1400"/>
              <a:t>  • `POST /en/chat/casestudy` | Case study EN | `case_study_ai` / gpt-4o-mini</a:t>
            </a:r>
          </a:p>
          <a:p>
            <a:r>
              <a:rPr sz="1400"/>
              <a:t>  • `POST /ar/chat/casestudy` | Case study AR | same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Python AI Service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... +51 more rows</a:t>
            </a:r>
          </a:p>
          <a:p>
            <a:r>
              <a:rPr sz="1400"/>
              <a:t>❝ **Note**: The Python service's OAuth + posting endpoints are legacy and overlap with the Express backend's implementation. The Express versions (`deal-ai-server/src/routes/{link... ❞</a:t>
            </a:r>
          </a:p>
          <a:p>
            <a:r>
              <a:rPr sz="1400"/>
              <a:t>▸ Models in use (Python service)</a:t>
            </a:r>
          </a:p>
          <a:p>
            <a:r>
              <a:rPr sz="1400"/>
              <a:t>Table: Model / Where / Role</a:t>
            </a:r>
          </a:p>
          <a:p>
            <a:r>
              <a:rPr sz="1400"/>
              <a:t>  • `gpt-4o-mini` | most text + vision endpoints | Default workhorse</a:t>
            </a:r>
          </a:p>
          <a:p>
            <a:r>
              <a:rPr sz="1400"/>
              <a:t>  • `gpt-4o` | `/analyze-map` only | Higher-quality vision</a:t>
            </a:r>
          </a:p>
          <a:p>
            <a:r>
              <a:rPr sz="1400"/>
              <a:t>  • `dall-e-2` | `/image`, `/image2` | Quick generation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Python AI Service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`dall-e-3` | `investment_image_creator` (semaphore=5) | High-quality investment images</a:t>
            </a:r>
          </a:p>
          <a:p>
            <a:r>
              <a:rPr sz="1400"/>
              <a:t>  • ... +1 more rows</a:t>
            </a:r>
          </a:p>
          <a:p>
            <a:r>
              <a:rPr sz="1400"/>
              <a:t>▸ Concurrency primitives</a:t>
            </a:r>
          </a:p>
          <a:p>
            <a:r>
              <a:rPr sz="1400"/>
              <a:t>• task_queue = Queue() (app.py:75) for async image-gen tasks.</a:t>
            </a:r>
          </a:p>
          <a:p>
            <a:r>
              <a:rPr sz="1400"/>
              <a:t>• semaphore = threading.Semaphore(5) (app.py:77) caps concurrent image generation.</a:t>
            </a:r>
          </a:p>
          <a:p>
            <a:r>
              <a:rPr sz="1400"/>
              <a:t>• concurrent.futures.ThreadPoolExecutor (app.py:1580) parallelizes the four marketing-analysis sub-calls.</a:t>
            </a:r>
          </a:p>
          <a:p>
            <a:r>
              <a:rPr sz="1400"/>
              <a:t>▸ Python env vars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Python AI Service Reference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Table: Variable / Purpose</a:t>
            </a:r>
          </a:p>
          <a:p>
            <a:r>
              <a:rPr sz="1400"/>
              <a:t>  • `OPENAI_API_KEY` | OpenAI auth (chat + image)</a:t>
            </a:r>
          </a:p>
          <a:p>
            <a:r>
              <a:rPr sz="1400"/>
              <a:t>  • `IDEOGRAM_API_KEY` | Ideogram auth</a:t>
            </a:r>
          </a:p>
          <a:p>
            <a:r>
              <a:rPr sz="1400"/>
              <a:t>  • `TWITTER_CLIENT_ID` / `TWITTER_CLIENT_SECRET` | (legacy) Twitter OAuth</a:t>
            </a:r>
          </a:p>
          <a:p>
            <a:r>
              <a:rPr sz="1400"/>
              <a:t>  • `LINKEDIN_CLIENT_ID` / `LINKEDIN_CLIENT_SECRET` | (legacy) LinkedIn OAuth</a:t>
            </a:r>
          </a:p>
          <a:p>
            <a:r>
              <a:rPr sz="1400"/>
              <a:t>  • ... +2 more rows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Configuration /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Frontend `.env`</a:t>
            </a:r>
          </a:p>
          <a:p>
            <a:r>
              <a:rPr sz="1400"/>
              <a:t>▸ Backend `.env`</a:t>
            </a:r>
          </a:p>
          <a:p>
            <a:r>
              <a:rPr sz="1400"/>
              <a:t>▸ Python `.env`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onsolas"/>
              </a:rPr>
              <a:t>NEXT_PUBLIC_BASE_URL=http://localhost:3000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NEXT_PUBLIC_SERVER_BASE_URL=http://localhost:5500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NEXT_PUBLIC_AI_API=http://localhost:5000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DATABASE_URL=mongodb+srv://...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GOOGLE_CLIENT_ID=...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GOOGLE_CLIENT_SECRET=...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NEXT_PUBLIC_GOOGLE_MAPS_API_KEY=...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DO_SPACE_URL=https://sfo3.digitaloceanspaces.com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DO_SPACE_REGION=sfo3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DO_SPACE_ID=...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DO_SPACE_SECRET=...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DO_SPACE_BUCKET=cognerax-learn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NEXT_PUBLIC_OPENAI_API_KEY=sk-...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Local dev</a:t>
            </a:r>
          </a:p>
          <a:p>
            <a:r>
              <a:rPr sz="1400"/>
              <a:t>▸ Production targets (current)</a:t>
            </a:r>
          </a:p>
          <a:p>
            <a:r>
              <a:rPr sz="1400"/>
              <a:t>Table: Service / Platform / Build/run</a:t>
            </a:r>
          </a:p>
          <a:p>
            <a:r>
              <a:rPr sz="1400"/>
              <a:t>  • Frontend (`deal-ai`) | Vercel | `next build` then static + serverless</a:t>
            </a:r>
          </a:p>
          <a:p>
            <a:r>
              <a:rPr sz="1400"/>
              <a:t>  • Backend (`deal-ai-server`) | DigitalOcean App Platform | `node src/index.js`</a:t>
            </a:r>
          </a:p>
          <a:p>
            <a:r>
              <a:rPr sz="1400"/>
              <a:t>  • Python AI (`TakamolAdvancedAI`) | Vercel (`vercel.json`) or Railway (`railway.json`) | `gunicorn -w 4 -b :$PORT app:app`</a:t>
            </a:r>
          </a:p>
          <a:p>
            <a:r>
              <a:rPr sz="1400"/>
              <a:t>  • MongoDB | MongoDB Atlas | managed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onsolas"/>
              </a:rPr>
              <a:t># Terminal 1: MongoDB Atlas — already remote, nothing to do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# Terminal 2: Python AI service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cd "TakamolAdvancedAI"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.venv\Scripts\python.exe app.py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# → http://127.0.0.1:5000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# Terminal 3: Express backend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cd "deal-ai-server"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yarn dev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# → http://localhost:5500</a:t>
            </a:r>
          </a:p>
          <a:p/>
          <a:p>
            <a:r>
              <a:rPr sz="1000">
                <a:solidFill>
                  <a:srgbClr val="555555"/>
                </a:solidFill>
                <a:latin typeface="Consolas"/>
              </a:rPr>
              <a:t># Terminal 4: Next.js frontend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cd "deal-ai"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yarn dev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# → http://localhost:3000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Deployment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  • ... +1 more rows</a:t>
            </a:r>
          </a:p>
          <a:p>
            <a:r>
              <a:rPr sz="1400"/>
              <a:t>No Dockerfile in any repo; all platforms use buildpacks / runtime detection.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Appendix A — Key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▸ A.1 PDF data extractor (`app.py:131-163`)</a:t>
            </a:r>
          </a:p>
          <a:p>
            <a:r>
              <a:rPr sz="1400"/>
              <a:t>❝ you will be provided some images and you have to understand it and reply with the data you understood from these images.</a:t>
            </a:r>
            <a:br/>
            <a:r>
              <a:rPr sz="1400"/>
              <a:t>Your response must be in Arabic.</a:t>
            </a:r>
            <a:br/>
            <a:r>
              <a:rPr sz="1400"/>
              <a:t>Guidance:</a:t>
            </a:r>
            <a:br/>
            <a:r>
              <a:rPr sz="1400"/>
              <a:t>- If there ar... ❞</a:t>
            </a:r>
          </a:p>
          <a:p>
            <a:r>
              <a:rPr sz="1400"/>
              <a:t>▸ A.2 Investment selector (`openai_api_requests.py:153-178`)</a:t>
            </a:r>
          </a:p>
          <a:p>
            <a:r>
              <a:rPr sz="1400"/>
              <a:t>▸ A.3 Land best-use conclusion (`openai_api_requests.py:762-785`)</a:t>
            </a:r>
          </a:p>
          <a:p>
            <a:r>
              <a:rPr sz="1400"/>
              <a:t>▸ A.4 Property-type recommendation (`openai_api_requests.py:597-657`)</a:t>
            </a:r>
          </a:p>
          <a:p>
            <a:r>
              <a:rPr sz="1400"/>
              <a:t>System prompt frames the model as an "expert real estate analyst" and provides the available property types (13: residential, commercial, mixed, towers, villas, compounds, hotels, etc.). Instructs ...</a:t>
            </a:r>
          </a:p>
          <a:p>
            <a:r>
              <a:rPr sz="1400"/>
              <a:t>*End of document.*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onsolas"/>
              </a:rPr>
              <a:t>أنت أداة استكشاف نوع العقار الذي يريده العميل.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العميل سوف يرسل لك برومبت مثل هذه: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كومباوند عمارات سكنية في حي الياسمين في الرياض.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عليك أن تفهم نوع العقار الذي يريده العميل و ردك يجب أن يكون بصيغة JSON كالتالي: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"مبنى_سكني":"False",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"مبنى_تجاري":"False",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...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"كومباوند_سكني":"True",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    ...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}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إرشادات: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الفلل لا تعني فيلا.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النوع الصحيح للعقار يجب أن يحمل قيمة True و الباقي يجب أن يحمل قيمة False.</a:t>
            </a:r>
          </a:p>
          <a:p>
            <a:r>
              <a:rPr sz="1000">
                <a:solidFill>
                  <a:srgbClr val="555555"/>
                </a:solidFill>
                <a:latin typeface="Consolas"/>
              </a:rPr>
              <a:t>يجب أن يكون اختيار واحد فقط هو الذي يحمل قيمة True.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Appendix A — Key Prompts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❝ **Generated**: April 2026.</a:t>
            </a:r>
          </a:p>
          <a:p>
            <a:r>
              <a:rPr sz="1400"/>
              <a:t>**Source repos** (now under `Bits-Solutions-co`):</a:t>
            </a:r>
          </a:p>
          <a:p>
            <a:r>
              <a:rPr sz="1400"/>
              <a:t>- `Bits-Solutions-co/deal-ai`</a:t>
            </a:r>
          </a:p>
          <a:p>
            <a:r>
              <a:rPr sz="1400"/>
              <a:t>- `Bits-Solutions-co/deal-ai-server`</a:t>
            </a:r>
          </a:p>
          <a:p>
            <a:r>
              <a:rPr sz="1400"/>
              <a:t>- `Bits-Solutions-co/TakamolAdvan... ❞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For full text including Mermaid diagrams, prompts, and the complete</a:t>
            </a:r>
          </a:p>
          <a:p>
            <a:r>
              <a:rPr sz="1600"/>
              <a:t>endpoint catalog, see DEAL_AI_FUNCTIONAL_DOCUMENTATION.md.</a:t>
            </a:r>
          </a:p>
          <a:p/>
          <a:p>
            <a:r>
              <a:rPr sz="1600"/>
              <a:t>Repos (Bits-Solutions-co):</a:t>
            </a:r>
          </a:p>
          <a:p>
            <a:r>
              <a:rPr sz="1600"/>
              <a:t>  • deal-ai</a:t>
            </a:r>
          </a:p>
          <a:p>
            <a:r>
              <a:rPr sz="1600"/>
              <a:t>  • deal-ai-server</a:t>
            </a:r>
          </a:p>
          <a:p>
            <a:r>
              <a:rPr sz="1600"/>
              <a:t>  • TakamolAdvancedAI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